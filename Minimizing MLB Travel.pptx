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Urbanist SemiBold"/>
      <p:regular r:id="rId25"/>
      <p:bold r:id="rId26"/>
      <p:italic r:id="rId27"/>
      <p:boldItalic r:id="rId28"/>
    </p:embeddedFont>
    <p:embeddedFont>
      <p:font typeface="Urbanist Medium"/>
      <p:regular r:id="rId29"/>
      <p:bold r:id="rId30"/>
      <p:italic r:id="rId31"/>
      <p:boldItalic r:id="rId32"/>
    </p:embeddedFont>
    <p:embeddedFont>
      <p:font typeface="Urbanist"/>
      <p:regular r:id="rId33"/>
      <p:bold r:id="rId34"/>
      <p:italic r:id="rId35"/>
      <p:boldItalic r:id="rId36"/>
    </p:embeddedFont>
    <p:embeddedFont>
      <p:font typeface="Urbanist Black"/>
      <p:bold r:id="rId37"/>
      <p:boldItalic r:id="rId38"/>
    </p:embeddedFont>
    <p:embeddedFont>
      <p:font typeface="Urbanist ExtraBold"/>
      <p:bold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j0gt9wEaBoRk1z+FS22J7GnJxq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7F45B3-B75A-4309-AA6A-CECB043EAC94}">
  <a:tblStyle styleId="{E57F45B3-B75A-4309-AA6A-CECB043EAC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ExtraBold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SemiBold-bold.fntdata"/><Relationship Id="rId25" Type="http://schemas.openxmlformats.org/officeDocument/2006/relationships/font" Target="fonts/UrbanistSemiBold-regular.fntdata"/><Relationship Id="rId28" Type="http://schemas.openxmlformats.org/officeDocument/2006/relationships/font" Target="fonts/UrbanistSemiBold-boldItalic.fntdata"/><Relationship Id="rId27" Type="http://schemas.openxmlformats.org/officeDocument/2006/relationships/font" Target="fonts/UrbanistSemiBol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Medium-italic.fntdata"/><Relationship Id="rId30" Type="http://schemas.openxmlformats.org/officeDocument/2006/relationships/font" Target="fonts/UrbanistMedium-bold.fntdata"/><Relationship Id="rId11" Type="http://schemas.openxmlformats.org/officeDocument/2006/relationships/slide" Target="slides/slide5.xml"/><Relationship Id="rId33" Type="http://schemas.openxmlformats.org/officeDocument/2006/relationships/font" Target="fonts/Urbanist-regular.fntdata"/><Relationship Id="rId10" Type="http://schemas.openxmlformats.org/officeDocument/2006/relationships/slide" Target="slides/slide4.xml"/><Relationship Id="rId32" Type="http://schemas.openxmlformats.org/officeDocument/2006/relationships/font" Target="fonts/UrbanistMedium-boldItalic.fntdata"/><Relationship Id="rId13" Type="http://schemas.openxmlformats.org/officeDocument/2006/relationships/slide" Target="slides/slide7.xml"/><Relationship Id="rId35" Type="http://schemas.openxmlformats.org/officeDocument/2006/relationships/font" Target="fonts/Urbanist-italic.fntdata"/><Relationship Id="rId12" Type="http://schemas.openxmlformats.org/officeDocument/2006/relationships/slide" Target="slides/slide6.xml"/><Relationship Id="rId34" Type="http://schemas.openxmlformats.org/officeDocument/2006/relationships/font" Target="fonts/Urbanist-bold.fntdata"/><Relationship Id="rId15" Type="http://schemas.openxmlformats.org/officeDocument/2006/relationships/slide" Target="slides/slide9.xml"/><Relationship Id="rId37" Type="http://schemas.openxmlformats.org/officeDocument/2006/relationships/font" Target="fonts/UrbanistBlack-bold.fntdata"/><Relationship Id="rId14" Type="http://schemas.openxmlformats.org/officeDocument/2006/relationships/slide" Target="slides/slide8.xml"/><Relationship Id="rId36" Type="http://schemas.openxmlformats.org/officeDocument/2006/relationships/font" Target="fonts/Urbanist-boldItalic.fntdata"/><Relationship Id="rId17" Type="http://schemas.openxmlformats.org/officeDocument/2006/relationships/slide" Target="slides/slide11.xml"/><Relationship Id="rId39" Type="http://schemas.openxmlformats.org/officeDocument/2006/relationships/font" Target="fonts/UrbanistExtraBold-bold.fntdata"/><Relationship Id="rId16" Type="http://schemas.openxmlformats.org/officeDocument/2006/relationships/slide" Target="slides/slide10.xml"/><Relationship Id="rId38" Type="http://schemas.openxmlformats.org/officeDocument/2006/relationships/font" Target="fonts/UrbanistBlack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da1b1ab5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da1b1ab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d45972fd7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g3ad45972fd7_4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d6ac92f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g3ad6ac92fb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1" name="Google Shape;31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9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45.png"/><Relationship Id="rId13" Type="http://schemas.openxmlformats.org/officeDocument/2006/relationships/image" Target="../media/image19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9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20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2.png"/><Relationship Id="rId7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36.png"/><Relationship Id="rId5" Type="http://schemas.openxmlformats.org/officeDocument/2006/relationships/image" Target="../media/image48.png"/><Relationship Id="rId6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54.png"/><Relationship Id="rId10" Type="http://schemas.openxmlformats.org/officeDocument/2006/relationships/image" Target="../media/image35.png"/><Relationship Id="rId13" Type="http://schemas.openxmlformats.org/officeDocument/2006/relationships/image" Target="../media/image46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9" Type="http://schemas.openxmlformats.org/officeDocument/2006/relationships/image" Target="../media/image43.png"/><Relationship Id="rId15" Type="http://schemas.openxmlformats.org/officeDocument/2006/relationships/image" Target="../media/image47.png"/><Relationship Id="rId14" Type="http://schemas.openxmlformats.org/officeDocument/2006/relationships/image" Target="../media/image41.png"/><Relationship Id="rId17" Type="http://schemas.openxmlformats.org/officeDocument/2006/relationships/image" Target="../media/image40.png"/><Relationship Id="rId16" Type="http://schemas.openxmlformats.org/officeDocument/2006/relationships/image" Target="../media/image44.png"/><Relationship Id="rId5" Type="http://schemas.openxmlformats.org/officeDocument/2006/relationships/image" Target="../media/image37.png"/><Relationship Id="rId19" Type="http://schemas.openxmlformats.org/officeDocument/2006/relationships/image" Target="../media/image42.png"/><Relationship Id="rId6" Type="http://schemas.openxmlformats.org/officeDocument/2006/relationships/image" Target="../media/image27.png"/><Relationship Id="rId18" Type="http://schemas.openxmlformats.org/officeDocument/2006/relationships/image" Target="../media/image50.png"/><Relationship Id="rId7" Type="http://schemas.openxmlformats.org/officeDocument/2006/relationships/image" Target="../media/image38.png"/><Relationship Id="rId8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36.png"/><Relationship Id="rId5" Type="http://schemas.openxmlformats.org/officeDocument/2006/relationships/image" Target="../media/image4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53.png"/><Relationship Id="rId7" Type="http://schemas.openxmlformats.org/officeDocument/2006/relationships/image" Target="../media/image4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9" Type="http://schemas.openxmlformats.org/officeDocument/2006/relationships/image" Target="../media/image51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39.png"/><Relationship Id="rId8" Type="http://schemas.openxmlformats.org/officeDocument/2006/relationships/image" Target="../media/image5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529400" y="1898150"/>
            <a:ext cx="91332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Minimizing MLB Team Travel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Using Optimization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576512" y="4028926"/>
            <a:ext cx="7038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Ari Kolahal • Aryan Sehgal • Barrett Ratzlaff • Jerry Lin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1706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66875"/>
            <a:ext cx="5334000" cy="461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66875"/>
            <a:ext cx="5334000" cy="4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1020045" y="2057400"/>
            <a:ext cx="47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Why does this matter?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6758253" y="2057400"/>
            <a:ext cx="47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Our Goal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6677025" y="2714625"/>
            <a:ext cx="45531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 minimize total travel distance for the AL East division while strictly satisfying all MLB scheduling rules.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6677025" y="4010025"/>
            <a:ext cx="45531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By using </a:t>
            </a:r>
            <a:r>
              <a:rPr lang="en-US" sz="16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integer</a:t>
            </a:r>
            <a:r>
              <a:rPr b="0" i="0" lang="en-US" sz="16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programming</a:t>
            </a:r>
            <a:r>
              <a:rPr b="0" i="0" lang="en-US" sz="16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we aim to prove that smarter routing can save thousands of miles per season.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8" name="Google Shape;9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08597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993700" y="2621325"/>
            <a:ext cx="455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Injury </a:t>
            </a:r>
            <a:r>
              <a:rPr b="1" lang="en-US" sz="16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&amp; Fatigue</a:t>
            </a:r>
            <a:r>
              <a:rPr b="1" i="0" lang="en-US" sz="16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6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Excessive travel significantly increases fatigue and injury probability for athletes.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996650" y="3733800"/>
            <a:ext cx="455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962100" y="3749025"/>
            <a:ext cx="45528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Complex Logistics: </a:t>
            </a:r>
            <a:r>
              <a:rPr lang="en-US" sz="16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Even for one division, </a:t>
            </a:r>
            <a:r>
              <a:rPr lang="en-US" sz="16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assigning</a:t>
            </a:r>
            <a:r>
              <a:rPr lang="en-US" sz="16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home / away slots is a large combinatorial </a:t>
            </a:r>
            <a:r>
              <a:rPr lang="en-US" sz="16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optimization</a:t>
            </a:r>
            <a:r>
              <a:rPr lang="en-US" sz="16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problem</a:t>
            </a:r>
            <a:r>
              <a:rPr b="0" i="0" lang="en-US" sz="16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2" name="Google Shape;102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08597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Problem</a:t>
            </a:r>
            <a:r>
              <a:rPr b="1" lang="en-US" sz="3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ada1b1ab55_0_0" title="Screenshot 2025-12-04 at 6.11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47387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0525" y="1666875"/>
            <a:ext cx="3492549" cy="461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77824" y="1666875"/>
            <a:ext cx="3492549" cy="4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/>
        </p:nvSpPr>
        <p:spPr>
          <a:xfrm>
            <a:off x="2961632" y="2705100"/>
            <a:ext cx="149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Athletes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2255800" y="3362325"/>
            <a:ext cx="2901900" cy="26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Travel has a measurable impact on fatigue and injury risk. A schedule that minimizes distance directly improves player performance and protects long-term health.</a:t>
            </a:r>
            <a:endParaRPr sz="18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7588945" y="2705100"/>
            <a:ext cx="207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League </a:t>
            </a:r>
            <a:r>
              <a:rPr lang="en-US" sz="210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Officials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7173149" y="3429000"/>
            <a:ext cx="2901900" cy="26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Healthy rosters keep star players on the field, which stabilizes revenue from attendance, broadcasting, and sponsorships. Lower travel also creates a more competitively fair season.</a:t>
            </a:r>
            <a:endParaRPr sz="18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8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121" name="Google Shape;12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20975" y="20002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95500" y="20002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571500" y="571500"/>
            <a:ext cx="11601600" cy="21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Stakeholders and Impact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36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66875"/>
            <a:ext cx="3492549" cy="461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666875"/>
            <a:ext cx="3492549" cy="461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666875"/>
            <a:ext cx="3492549" cy="4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8"/>
          <p:cNvSpPr txBox="1"/>
          <p:nvPr/>
        </p:nvSpPr>
        <p:spPr>
          <a:xfrm>
            <a:off x="1467594" y="2705100"/>
            <a:ext cx="17002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Python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866775" y="3362325"/>
            <a:ext cx="2901900" cy="1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Constructed the pairwise </a:t>
            </a:r>
            <a:r>
              <a:rPr lang="en-US" sz="19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</a:t>
            </a:r>
            <a:r>
              <a:rPr b="0" i="0" lang="en-US" sz="19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istance </a:t>
            </a:r>
            <a:r>
              <a:rPr lang="en-US" sz="19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</a:t>
            </a:r>
            <a:r>
              <a:rPr b="0" i="0" lang="en-US" sz="19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atrix using geopy </a:t>
            </a:r>
            <a:r>
              <a:rPr lang="en-US" sz="19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and airportsdata packages</a:t>
            </a:r>
            <a:r>
              <a:rPr b="0" i="0" lang="en-US" sz="19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5230891" y="2705100"/>
            <a:ext cx="17302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Gurobi Solver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4645074" y="3362325"/>
            <a:ext cx="2901900" cy="1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Defined decision variables (matchups and location) and implemented all constraints.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8669148" y="2705100"/>
            <a:ext cx="241030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Output Generation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8423374" y="3362325"/>
            <a:ext cx="2901900" cy="1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Solved for the global optimum and exported the results into schedule_df and travel_df for analysis.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9" name="Google Shape;13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7675" y="20002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0002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0002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 Implementation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20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66875"/>
            <a:ext cx="5334000" cy="461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66875"/>
            <a:ext cx="5334000" cy="4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4"/>
          <p:cNvSpPr txBox="1"/>
          <p:nvPr/>
        </p:nvSpPr>
        <p:spPr>
          <a:xfrm>
            <a:off x="1020045" y="2057400"/>
            <a:ext cx="47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Scope &amp;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6735045" y="2057400"/>
            <a:ext cx="47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Tools &amp; Rules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3" name="Google Shape;15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08597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"/>
          <p:cNvSpPr txBox="1"/>
          <p:nvPr/>
        </p:nvSpPr>
        <p:spPr>
          <a:xfrm>
            <a:off x="1292250" y="2781725"/>
            <a:ext cx="41496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Scope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 East Division 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at first 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(5 Teams: BOS, NYY, BAL, TB, TOR)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then expand to all American League (15 teams).</a:t>
            </a:r>
            <a:endParaRPr sz="18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292257" y="4243680"/>
            <a:ext cx="38862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Time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Horizon: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One-month optimized scheduling window.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1292257" y="5262255"/>
            <a:ext cx="38862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 Source: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Airport-based Pairwise Distance Matrix between stadiums.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7" name="Google Shape;15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08597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"/>
          <p:cNvSpPr txBox="1"/>
          <p:nvPr/>
        </p:nvSpPr>
        <p:spPr>
          <a:xfrm>
            <a:off x="6995653" y="3094046"/>
            <a:ext cx="38862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Calculations: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Python geopy for geodesic distance and airportsdata for coordinates.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7010403" y="2632133"/>
            <a:ext cx="388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Optimization: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Gurobi Solver.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6995653" y="4442471"/>
            <a:ext cx="38862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Constraints: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dherence to MLB divisional scheduling rules (series length, frequency).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Background &amp;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3" name="Google Shape;163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6507" y="286495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6507" y="429733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6507" y="533750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09903" y="271254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09903" y="319699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09903" y="444247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64400" y="307525"/>
            <a:ext cx="818075" cy="81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86499" y="280899"/>
            <a:ext cx="818074" cy="818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388700" y="280900"/>
            <a:ext cx="818075" cy="81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490900" y="280900"/>
            <a:ext cx="818074" cy="818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593100" y="171775"/>
            <a:ext cx="1036324" cy="1036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66875"/>
            <a:ext cx="5334000" cy="461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66875"/>
            <a:ext cx="5334000" cy="4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"/>
          <p:cNvSpPr txBox="1"/>
          <p:nvPr/>
        </p:nvSpPr>
        <p:spPr>
          <a:xfrm>
            <a:off x="1031649" y="2057400"/>
            <a:ext cx="47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Objective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962025" y="2714625"/>
            <a:ext cx="4553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Minimize the total cumulative travel distance for all teams over the scheduling horizon.</a:t>
            </a:r>
            <a:endParaRPr i="0" sz="1400" u="none" cap="none" strike="noStrike">
              <a:solidFill>
                <a:srgbClr val="000000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962025" y="3705225"/>
            <a:ext cx="45531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0" lang="en-US" sz="155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We utilize a Slot-Based approach where each "slot" represents a 3-game series to simplify the calendar.</a:t>
            </a:r>
            <a:endParaRPr i="0" sz="1600" u="none" cap="none" strike="noStrike">
              <a:solidFill>
                <a:srgbClr val="000000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6548450" y="2534275"/>
            <a:ext cx="4909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 x ᵢⱼₛ ∈ {0,1}</a:t>
            </a:r>
            <a:endParaRPr b="1"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Equals 1 if Team i travels to Team j in Slot s, 0 otherwise.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descr="image.png" id="185" name="Google Shape;18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085975"/>
            <a:ext cx="266700" cy="266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5"/>
          <p:cNvGrpSpPr/>
          <p:nvPr/>
        </p:nvGrpSpPr>
        <p:grpSpPr>
          <a:xfrm>
            <a:off x="6522158" y="2006367"/>
            <a:ext cx="4873332" cy="323100"/>
            <a:chOff x="6498950" y="2017971"/>
            <a:chExt cx="4873332" cy="323100"/>
          </a:xfrm>
        </p:grpSpPr>
        <p:sp>
          <p:nvSpPr>
            <p:cNvPr id="187" name="Google Shape;187;p5"/>
            <p:cNvSpPr txBox="1"/>
            <p:nvPr/>
          </p:nvSpPr>
          <p:spPr>
            <a:xfrm>
              <a:off x="6591782" y="2017971"/>
              <a:ext cx="4780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38125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Decision Variables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mage.png" id="188" name="Google Shape;18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498950" y="2046996"/>
              <a:ext cx="238125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9" name="Google Shape;189;p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Optimization Model: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6548450" y="3429000"/>
            <a:ext cx="4909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 </a:t>
            </a:r>
            <a:r>
              <a:rPr b="1"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loc ᵢₛₖ ∈ {0,1}</a:t>
            </a:r>
            <a:endParaRPr b="1"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Equals 1 if Team i stays at team k’s stadium in Slots s, 0 otherwise.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6533754" y="4623225"/>
            <a:ext cx="46815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3. travel ᵢₛₖ₁ₖ₂ ∈ {0,1}</a:t>
            </a:r>
            <a:endParaRPr b="1"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If team i stays in stadium k1 at slot s and stadium k2 at slot s+1, then travelᵢₛₖ₁ₖ₂ = 1. 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This helps link consecutive slots to calculate travel distance between Series A and B.</a:t>
            </a:r>
            <a:endParaRPr sz="1500">
              <a:solidFill>
                <a:srgbClr val="CBD5E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6"/>
          <p:cNvSpPr txBox="1"/>
          <p:nvPr/>
        </p:nvSpPr>
        <p:spPr>
          <a:xfrm>
            <a:off x="3478625" y="2501775"/>
            <a:ext cx="5480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minimize the sum of all travel </a:t>
            </a:r>
            <a:r>
              <a:rPr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distances</a:t>
            </a:r>
            <a:r>
              <a:rPr b="0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Objective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1449" y="3048025"/>
            <a:ext cx="6550999" cy="14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62250" y="4850012"/>
            <a:ext cx="6667500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7"/>
          <p:cNvSpPr txBox="1"/>
          <p:nvPr/>
        </p:nvSpPr>
        <p:spPr>
          <a:xfrm>
            <a:off x="1238250" y="1819275"/>
            <a:ext cx="46674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One Series Per Slot:</a:t>
            </a:r>
            <a:r>
              <a:rPr b="0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Each team plays exactly one opponent per time slot.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1238250" y="2868725"/>
            <a:ext cx="46674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 Self-Games:</a:t>
            </a:r>
            <a:r>
              <a:rPr b="0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team cannot play against itself </a:t>
            </a:r>
            <a:r>
              <a:rPr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b="1"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xᵢᵢₛ = 0</a:t>
            </a:r>
            <a:r>
              <a:rPr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r>
              <a:rPr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i="0" sz="1700" u="none" cap="none" strike="noStrike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1238250" y="4005013"/>
            <a:ext cx="466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6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Minimum</a:t>
            </a:r>
            <a:r>
              <a:rPr b="1" lang="en-US" sz="16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Total Series: </a:t>
            </a:r>
            <a:r>
              <a:rPr lang="en-US" sz="16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Each team must play </a:t>
            </a:r>
            <a:r>
              <a:rPr lang="en-US" sz="16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at least</a:t>
            </a:r>
            <a:r>
              <a:rPr lang="en-US" sz="16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required number of </a:t>
            </a:r>
            <a:r>
              <a:rPr lang="en-US" sz="16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series</a:t>
            </a:r>
            <a:r>
              <a:rPr lang="en-US" sz="16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within</a:t>
            </a:r>
            <a:r>
              <a:rPr lang="en-US" sz="16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month </a:t>
            </a:r>
            <a:endParaRPr b="0" i="0" sz="1500" u="none" cap="none" strike="noStrike">
              <a:solidFill>
                <a:srgbClr val="E8EC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1238250" y="5198350"/>
            <a:ext cx="46674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Minimum Home/Away Series</a:t>
            </a:r>
            <a:r>
              <a:rPr b="1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Each teams must meet a minimum number of </a:t>
            </a:r>
            <a:r>
              <a:rPr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home/away series</a:t>
            </a:r>
            <a:r>
              <a:rPr b="0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6953100" y="2673879"/>
            <a:ext cx="46674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 Back-to-Back Series:</a:t>
            </a:r>
            <a:r>
              <a:rPr b="0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Teams cannot play the same opponent in consecutive slots to ensure variety.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6953100" y="3899342"/>
            <a:ext cx="46674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Location Tracking:</a:t>
            </a:r>
            <a:r>
              <a:rPr b="0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model must track the physical location of each team at the end of slot </a:t>
            </a:r>
            <a:r>
              <a:rPr b="1"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r>
              <a:rPr b="0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 calculate travel to slot </a:t>
            </a:r>
            <a:r>
              <a:rPr b="1"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s+1</a:t>
            </a:r>
            <a:r>
              <a:rPr b="0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6953100" y="5198354"/>
            <a:ext cx="46674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Binary Integrity:</a:t>
            </a:r>
            <a:r>
              <a:rPr b="0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All decision variables are strictly binary (0 or 1).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Key Constraints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7" name="Google Shape;21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18669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9163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05263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52459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350" y="272150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350" y="394696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350" y="5245979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"/>
          <p:cNvSpPr txBox="1"/>
          <p:nvPr/>
        </p:nvSpPr>
        <p:spPr>
          <a:xfrm>
            <a:off x="6953100" y="1819279"/>
            <a:ext cx="46674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Divisional Requirement:</a:t>
            </a:r>
            <a:r>
              <a:rPr b="0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Each pair of teams must meet a minimum number of times.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5" name="Google Shape;22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350" y="1866904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 txBox="1"/>
          <p:nvPr/>
        </p:nvSpPr>
        <p:spPr>
          <a:xfrm>
            <a:off x="571500" y="147003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Sample output for the first two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team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showing efficient pairing: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1" name="Google Shape;231;p9"/>
          <p:cNvGraphicFramePr/>
          <p:nvPr/>
        </p:nvGraphicFramePr>
        <p:xfrm>
          <a:off x="641125" y="18031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{E57F45B3-B75A-4309-AA6A-CECB043EAC94}</a:tableStyleId>
              </a:tblPr>
              <a:tblGrid>
                <a:gridCol w="2573450"/>
                <a:gridCol w="2747075"/>
                <a:gridCol w="3599550"/>
                <a:gridCol w="1373725"/>
              </a:tblGrid>
              <a:tr h="60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Team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>
                          <a:solidFill>
                            <a:srgbClr val="CBD5E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Opponent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CBD5E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Home/Away</a:t>
                      </a:r>
                      <a:endParaRPr b="0" i="0" sz="1500" u="none" cap="none" strike="noStrike">
                        <a:solidFill>
                          <a:srgbClr val="CBD5E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CBD5E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Slot</a:t>
                      </a:r>
                      <a:endParaRPr b="0" sz="1500">
                        <a:solidFill>
                          <a:srgbClr val="CBD5E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60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4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Los Angeles Angels</a:t>
                      </a:r>
                      <a:endParaRPr sz="14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Away</a:t>
                      </a:r>
                      <a:endParaRPr i="0" sz="15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</a:t>
                      </a:r>
                      <a:endParaRPr i="0" sz="15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Seattle Mariners</a:t>
                      </a:r>
                      <a:endParaRPr sz="14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Home</a:t>
                      </a:r>
                      <a:endParaRPr i="0" sz="15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1</a:t>
                      </a:r>
                      <a:endParaRPr i="0" sz="15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Minnesota Twins</a:t>
                      </a:r>
                      <a:endParaRPr sz="14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Home</a:t>
                      </a:r>
                      <a:endParaRPr i="0" sz="15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2</a:t>
                      </a:r>
                      <a:endParaRPr i="0" sz="15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4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Los Angeles Angels	</a:t>
                      </a:r>
                      <a:endParaRPr sz="14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Home</a:t>
                      </a:r>
                      <a:endParaRPr i="0" sz="15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4</a:t>
                      </a:r>
                      <a:endParaRPr i="0" sz="15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Seattle Mariners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Away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6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Minnesota Twins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Away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7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Baltimore Orioles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Toronto Blue Jays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Home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2" name="Google Shape;232;p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Results: Optimized Schedule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g3ad45972fd7_4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ad45972fd7_4_1"/>
          <p:cNvSpPr txBox="1"/>
          <p:nvPr/>
        </p:nvSpPr>
        <p:spPr>
          <a:xfrm>
            <a:off x="571500" y="147003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Sample output for the route and dist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ance for the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first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0" name="Google Shape;240;g3ad45972fd7_4_1"/>
          <p:cNvGraphicFramePr/>
          <p:nvPr/>
        </p:nvGraphicFramePr>
        <p:xfrm>
          <a:off x="641125" y="17915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{E57F45B3-B75A-4309-AA6A-CECB043EAC94}</a:tableStyleId>
              </a:tblPr>
              <a:tblGrid>
                <a:gridCol w="1839025"/>
                <a:gridCol w="1963100"/>
                <a:gridCol w="1963100"/>
                <a:gridCol w="2572250"/>
                <a:gridCol w="2572250"/>
              </a:tblGrid>
              <a:tr h="603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Team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CBD5E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Slot</a:t>
                      </a:r>
                      <a:endParaRPr b="0" sz="1500">
                        <a:solidFill>
                          <a:srgbClr val="CBD5E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>
                          <a:solidFill>
                            <a:srgbClr val="CBD5E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From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CBD5E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To</a:t>
                      </a:r>
                      <a:endParaRPr b="0" i="0" sz="1500" u="none" cap="none" strike="noStrike">
                        <a:solidFill>
                          <a:srgbClr val="CBD5E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CBD5E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Distance (miles)</a:t>
                      </a:r>
                      <a:endParaRPr b="0" sz="1500">
                        <a:solidFill>
                          <a:srgbClr val="CBD5E1"/>
                        </a:solidFill>
                        <a:latin typeface="Urbanist SemiBold"/>
                        <a:ea typeface="Urbanist SemiBold"/>
                        <a:cs typeface="Urbanist SemiBold"/>
                        <a:sym typeface="Urbanist SemiBold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603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4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</a:t>
                      </a:r>
                      <a:endParaRPr i="0" sz="15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Los Angeles Angels</a:t>
                      </a:r>
                      <a:endParaRPr sz="14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i="0" sz="15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387.19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1</a:t>
                      </a:r>
                      <a:endParaRPr i="0" sz="15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4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i="0" sz="15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2</a:t>
                      </a:r>
                      <a:endParaRPr i="0" sz="15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4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i="0" sz="15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4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3</a:t>
                      </a:r>
                      <a:endParaRPr i="0" sz="15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4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i="0" sz="1500" u="none" cap="none" strike="noStrike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4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5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Seattle Mariners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605.42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Athletics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6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Seattle Mariners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Minnesota Twins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1398.91</a:t>
                      </a:r>
                      <a:endParaRPr sz="1500">
                        <a:latin typeface="Urbanist Medium"/>
                        <a:ea typeface="Urbanist Medium"/>
                        <a:cs typeface="Urbanist Medium"/>
                        <a:sym typeface="Urbanist Medium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1" name="Google Shape;241;g3ad45972fd7_4_1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Results: R</a:t>
            </a:r>
            <a:r>
              <a:rPr b="1" lang="en-US" sz="3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oute and Distance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ad45972fd7_4_1"/>
          <p:cNvSpPr/>
          <p:nvPr/>
        </p:nvSpPr>
        <p:spPr>
          <a:xfrm>
            <a:off x="571500" y="1266825"/>
            <a:ext cx="110490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8100" y="1650624"/>
            <a:ext cx="4383841" cy="3130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6801" y="1634363"/>
            <a:ext cx="4383840" cy="313096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0"/>
          <p:cNvSpPr txBox="1"/>
          <p:nvPr/>
        </p:nvSpPr>
        <p:spPr>
          <a:xfrm>
            <a:off x="3604363" y="5274100"/>
            <a:ext cx="49833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By </a:t>
            </a:r>
            <a:r>
              <a:rPr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building our first few optimization models</a:t>
            </a:r>
            <a:r>
              <a:rPr b="0" i="0" lang="en-US" sz="17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we achieved a massive reduction in unnecessary cross-country travel.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1486442" y="2148965"/>
            <a:ext cx="33873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56"/>
              <a:buFont typeface="Arial"/>
              <a:buNone/>
            </a:pPr>
            <a:r>
              <a:rPr b="0" i="0" lang="en-US" sz="7656" u="none" cap="none" strike="noStrike">
                <a:solidFill>
                  <a:srgbClr val="4ADE8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~8,000</a:t>
            </a:r>
            <a:endParaRPr b="0" i="0" sz="178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 txBox="1"/>
          <p:nvPr/>
        </p:nvSpPr>
        <p:spPr>
          <a:xfrm>
            <a:off x="1486442" y="3242884"/>
            <a:ext cx="3387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7"/>
              <a:buFont typeface="Arial"/>
              <a:buNone/>
            </a:pPr>
            <a:r>
              <a:rPr b="0" i="0" lang="en-US" sz="2296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MILES (BASELINE)</a:t>
            </a:r>
            <a:endParaRPr b="0" i="0" sz="178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1486442" y="3777689"/>
            <a:ext cx="33873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1"/>
              <a:buFont typeface="Arial"/>
              <a:buNone/>
            </a:pPr>
            <a:r>
              <a:rPr b="0" i="0" lang="en-US" sz="1531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Naive Scheduling</a:t>
            </a:r>
            <a:endParaRPr b="0" i="0" sz="178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4" name="Google Shape;25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09425" y="300936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0"/>
          <p:cNvSpPr txBox="1"/>
          <p:nvPr/>
        </p:nvSpPr>
        <p:spPr>
          <a:xfrm>
            <a:off x="7735142" y="2132704"/>
            <a:ext cx="33873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56"/>
              <a:buFont typeface="Arial"/>
              <a:buNone/>
            </a:pPr>
            <a:r>
              <a:rPr b="0" i="0" lang="en-US" sz="7656" u="none" cap="none" strike="noStrike">
                <a:solidFill>
                  <a:srgbClr val="4ADE8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3,874</a:t>
            </a:r>
            <a:endParaRPr b="0" i="0" sz="178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 txBox="1"/>
          <p:nvPr/>
        </p:nvSpPr>
        <p:spPr>
          <a:xfrm>
            <a:off x="7735142" y="3226622"/>
            <a:ext cx="3387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7"/>
              <a:buFont typeface="Arial"/>
              <a:buNone/>
            </a:pPr>
            <a:r>
              <a:rPr b="0" i="0" lang="en-US" sz="2296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MILES</a:t>
            </a:r>
            <a:endParaRPr b="0" i="0" sz="178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 txBox="1"/>
          <p:nvPr/>
        </p:nvSpPr>
        <p:spPr>
          <a:xfrm>
            <a:off x="7735142" y="3761427"/>
            <a:ext cx="33873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1"/>
              <a:buFont typeface="Arial"/>
              <a:buNone/>
            </a:pPr>
            <a:r>
              <a:rPr lang="en-US" sz="153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Fixed Tracking</a:t>
            </a:r>
            <a:endParaRPr b="0" i="0" sz="178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Results: Total Travel Distance (</a:t>
            </a:r>
            <a:r>
              <a:rPr b="1" lang="en-US" sz="3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Five Teams, One Month)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19250"/>
            <a:ext cx="3492549" cy="471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619250"/>
            <a:ext cx="3492549" cy="471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619250"/>
            <a:ext cx="3492549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1"/>
          <p:cNvSpPr txBox="1"/>
          <p:nvPr/>
        </p:nvSpPr>
        <p:spPr>
          <a:xfrm>
            <a:off x="794225" y="2657475"/>
            <a:ext cx="304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Scaling Number of Teams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1"/>
          <p:cNvSpPr txBox="1"/>
          <p:nvPr/>
        </p:nvSpPr>
        <p:spPr>
          <a:xfrm>
            <a:off x="866775" y="3638550"/>
            <a:ext cx="29019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Scenario:</a:t>
            </a:r>
            <a:r>
              <a:rPr b="0" i="0" lang="en-US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Expanded the model from 5 teams to 15 while keeping the core constraints 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1"/>
          <p:cNvSpPr txBox="1"/>
          <p:nvPr/>
        </p:nvSpPr>
        <p:spPr>
          <a:xfrm>
            <a:off x="866875" y="4942725"/>
            <a:ext cx="29019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Result: </a:t>
            </a:r>
            <a:r>
              <a:rPr b="0" i="0" lang="en-US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Total travel naturally grew but optimizer </a:t>
            </a: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performed</a:t>
            </a: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well by </a:t>
            </a: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producing</a:t>
            </a: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schedules where teams moved within geographic clusters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1"/>
          <p:cNvSpPr txBox="1"/>
          <p:nvPr/>
        </p:nvSpPr>
        <p:spPr>
          <a:xfrm>
            <a:off x="4568875" y="2657475"/>
            <a:ext cx="304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Limit on Consecutive Home/Away Series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1"/>
          <p:cNvSpPr txBox="1"/>
          <p:nvPr/>
        </p:nvSpPr>
        <p:spPr>
          <a:xfrm>
            <a:off x="4645124" y="3638550"/>
            <a:ext cx="2901900" cy="1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Scenario:</a:t>
            </a: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Imposed a cap of at most 3 consecutive home or away series for any team 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3" name="Google Shape;273;p11"/>
          <p:cNvSpPr txBox="1"/>
          <p:nvPr/>
        </p:nvSpPr>
        <p:spPr>
          <a:xfrm>
            <a:off x="8534132" y="2657475"/>
            <a:ext cx="268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Home/Away </a:t>
            </a:r>
            <a:r>
              <a:rPr lang="en-US" sz="210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Requirements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1"/>
          <p:cNvSpPr txBox="1"/>
          <p:nvPr/>
        </p:nvSpPr>
        <p:spPr>
          <a:xfrm>
            <a:off x="8423474" y="3638550"/>
            <a:ext cx="2901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Scenario: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Require every team to play at least 3 home and 2 away series out of the 8 slots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1"/>
          <p:cNvSpPr txBox="1"/>
          <p:nvPr/>
        </p:nvSpPr>
        <p:spPr>
          <a:xfrm>
            <a:off x="8423374" y="4898025"/>
            <a:ext cx="2901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Result: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Drastic increase in travel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since solver now had less flexibility to form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geographically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efficient sequence of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series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6" name="Google Shape;27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1950" y="19526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19526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7124" y="195262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1"/>
          <p:cNvSpPr txBox="1"/>
          <p:nvPr/>
        </p:nvSpPr>
        <p:spPr>
          <a:xfrm>
            <a:off x="794225" y="153825"/>
            <a:ext cx="2142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Sensitivity Analysis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 txBox="1"/>
          <p:nvPr/>
        </p:nvSpPr>
        <p:spPr>
          <a:xfrm>
            <a:off x="4645125" y="4942725"/>
            <a:ext cx="29019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Result: </a:t>
            </a:r>
            <a:r>
              <a:rPr b="0" i="0" lang="en-US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chedule is</a:t>
            </a: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more realistic but total travel distance increased as teams have to alternate between home and away more </a:t>
            </a: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often</a:t>
            </a:r>
            <a:r>
              <a:rPr lang="en-US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2" name="Google Shape;282;p1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63845" y="274113"/>
            <a:ext cx="882924" cy="74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08525" y="274112"/>
            <a:ext cx="744602" cy="744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154150" y="274114"/>
            <a:ext cx="744602" cy="744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121175" y="274114"/>
            <a:ext cx="744602" cy="744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492550" y="228869"/>
            <a:ext cx="571500" cy="789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9625738" y="318813"/>
            <a:ext cx="744600" cy="7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0312563" y="249663"/>
            <a:ext cx="882925" cy="88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1303825" y="204939"/>
            <a:ext cx="659999" cy="882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akland Athletics A Logo" id="290" name="Google Shape;290;p1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911550" y="163001"/>
            <a:ext cx="969601" cy="96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881150" y="318824"/>
            <a:ext cx="744600" cy="7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g3ad6ac92fb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g3ad6ac92fb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8125" y="2197037"/>
            <a:ext cx="4269062" cy="3048987"/>
          </a:xfrm>
          <a:prstGeom prst="rect">
            <a:avLst/>
          </a:prstGeom>
          <a:noFill/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.png" id="298" name="Google Shape;298;g3ad6ac92fb7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3550" y="2074426"/>
            <a:ext cx="4440600" cy="31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ad6ac92fb7_0_0"/>
          <p:cNvSpPr txBox="1"/>
          <p:nvPr/>
        </p:nvSpPr>
        <p:spPr>
          <a:xfrm>
            <a:off x="1614487" y="5146327"/>
            <a:ext cx="896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ad6ac92fb7_0_0"/>
          <p:cNvSpPr txBox="1"/>
          <p:nvPr/>
        </p:nvSpPr>
        <p:spPr>
          <a:xfrm>
            <a:off x="1473419" y="2682330"/>
            <a:ext cx="32985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56"/>
              <a:buFont typeface="Arial"/>
              <a:buNone/>
            </a:pPr>
            <a:r>
              <a:rPr lang="en-US" sz="7456">
                <a:solidFill>
                  <a:srgbClr val="4ADE8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87</a:t>
            </a:r>
            <a:r>
              <a:rPr b="0" i="0" lang="en-US" sz="7456" u="none" cap="none" strike="noStrike">
                <a:solidFill>
                  <a:srgbClr val="4ADE8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,000</a:t>
            </a:r>
            <a:endParaRPr b="0" i="0" sz="17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ad6ac92fb7_0_0"/>
          <p:cNvSpPr txBox="1"/>
          <p:nvPr/>
        </p:nvSpPr>
        <p:spPr>
          <a:xfrm>
            <a:off x="1473419" y="3747608"/>
            <a:ext cx="32985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7"/>
              <a:buFont typeface="Arial"/>
              <a:buNone/>
            </a:pPr>
            <a:r>
              <a:rPr lang="en-US" sz="2236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MILES (REAL WORLD)</a:t>
            </a:r>
            <a:endParaRPr b="0" i="0" sz="17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ad6ac92fb7_0_0"/>
          <p:cNvSpPr txBox="1"/>
          <p:nvPr/>
        </p:nvSpPr>
        <p:spPr>
          <a:xfrm>
            <a:off x="1473419" y="4407776"/>
            <a:ext cx="32985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1"/>
              <a:buFont typeface="Arial"/>
              <a:buNone/>
            </a:pPr>
            <a:r>
              <a:rPr lang="en-US" sz="1739">
                <a:solidFill>
                  <a:srgbClr val="E8ECF4"/>
                </a:solidFill>
                <a:latin typeface="Urbanist"/>
                <a:ea typeface="Urbanist"/>
                <a:cs typeface="Urbanist"/>
                <a:sym typeface="Urbanist"/>
              </a:rPr>
              <a:t>Estimate</a:t>
            </a:r>
            <a:endParaRPr i="0" sz="1739" u="none" cap="none" strike="noStrike">
              <a:solidFill>
                <a:srgbClr val="E8ECF4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3" name="Google Shape;303;g3ad6ac92fb7_0_0"/>
          <p:cNvSpPr txBox="1"/>
          <p:nvPr/>
        </p:nvSpPr>
        <p:spPr>
          <a:xfrm>
            <a:off x="7348349" y="2579226"/>
            <a:ext cx="34311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56"/>
              <a:buFont typeface="Arial"/>
              <a:buNone/>
            </a:pPr>
            <a:r>
              <a:rPr lang="en-US" sz="7755">
                <a:solidFill>
                  <a:srgbClr val="4ADE8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25,832</a:t>
            </a:r>
            <a:endParaRPr b="0" i="0" sz="18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ad6ac92fb7_0_0"/>
          <p:cNvSpPr txBox="1"/>
          <p:nvPr/>
        </p:nvSpPr>
        <p:spPr>
          <a:xfrm>
            <a:off x="7222902" y="3821793"/>
            <a:ext cx="36819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7"/>
              <a:buFont typeface="Arial"/>
              <a:buNone/>
            </a:pPr>
            <a:r>
              <a:rPr b="0" i="0" lang="en-US" sz="2326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MILES (MODEL SOLUTION)</a:t>
            </a:r>
            <a:endParaRPr b="0" i="0" sz="18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ad6ac92fb7_0_0"/>
          <p:cNvSpPr txBox="1"/>
          <p:nvPr/>
        </p:nvSpPr>
        <p:spPr>
          <a:xfrm>
            <a:off x="7348252" y="4374028"/>
            <a:ext cx="34311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1"/>
              <a:buFont typeface="Arial"/>
              <a:buNone/>
            </a:pPr>
            <a:r>
              <a:rPr lang="en-US" sz="1809">
                <a:solidFill>
                  <a:srgbClr val="E8ECF4"/>
                </a:solidFill>
                <a:latin typeface="Urbanist"/>
                <a:ea typeface="Urbanist"/>
                <a:cs typeface="Urbanist"/>
                <a:sym typeface="Urbanist"/>
              </a:rPr>
              <a:t>Adjusted Constraints</a:t>
            </a:r>
            <a:endParaRPr b="0" i="0" sz="1809" u="none" cap="none" strike="noStrike">
              <a:solidFill>
                <a:srgbClr val="E8EC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ad6ac92fb7_0_0"/>
          <p:cNvSpPr txBox="1"/>
          <p:nvPr/>
        </p:nvSpPr>
        <p:spPr>
          <a:xfrm>
            <a:off x="418150" y="571500"/>
            <a:ext cx="1175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Results: Total Travel Distance (15</a:t>
            </a:r>
            <a:r>
              <a:rPr b="1" lang="en-US" sz="3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Teams, One Month</a:t>
            </a:r>
            <a:r>
              <a:rPr b="1" lang="en-US" sz="3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ad6ac92fb7_0_0"/>
          <p:cNvSpPr/>
          <p:nvPr/>
        </p:nvSpPr>
        <p:spPr>
          <a:xfrm>
            <a:off x="571500" y="1266825"/>
            <a:ext cx="110490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ad6ac92fb7_0_0"/>
          <p:cNvSpPr txBox="1"/>
          <p:nvPr/>
        </p:nvSpPr>
        <p:spPr>
          <a:xfrm>
            <a:off x="5625749" y="3125125"/>
            <a:ext cx="10671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ADE80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V.S.</a:t>
            </a:r>
            <a:endParaRPr sz="3200">
              <a:solidFill>
                <a:srgbClr val="4ADE80"/>
              </a:solidFill>
              <a:latin typeface="Urbanist Black"/>
              <a:ea typeface="Urbanist Black"/>
              <a:cs typeface="Urbanist Black"/>
              <a:sym typeface="Urbanist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66875"/>
            <a:ext cx="5334000" cy="461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66875"/>
            <a:ext cx="5334000" cy="4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2"/>
          <p:cNvSpPr txBox="1"/>
          <p:nvPr/>
        </p:nvSpPr>
        <p:spPr>
          <a:xfrm>
            <a:off x="962025" y="2057400"/>
            <a:ext cx="47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Model vs Real-World Schedule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"/>
          <p:cNvSpPr txBox="1"/>
          <p:nvPr/>
        </p:nvSpPr>
        <p:spPr>
          <a:xfrm>
            <a:off x="962025" y="2714625"/>
            <a:ext cx="45531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Our model uses 15 teams, series-level slots, and simplified constraints, while MLB schedules 30 teams across individual games with many operational factors (TV, venue availability, rest days).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 teams travel roughly 5,800</a:t>
            </a:r>
            <a:r>
              <a:rPr lang="en-US" sz="1500">
                <a:solidFill>
                  <a:srgbClr val="1F1F1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miles totally per month; our optimized schedule required only 1,700 miles per team per month, showing the reduction possible when minimizing travel is the sole objective.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8" name="Google Shape;318;p12"/>
          <p:cNvSpPr txBox="1"/>
          <p:nvPr/>
        </p:nvSpPr>
        <p:spPr>
          <a:xfrm>
            <a:off x="6677025" y="2057400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Efficiency Tradeoff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 txBox="1"/>
          <p:nvPr/>
        </p:nvSpPr>
        <p:spPr>
          <a:xfrm>
            <a:off x="6677025" y="2714625"/>
            <a:ext cx="4552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There is a clear tradeoff between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Fairness/Variety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Efficiency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A purely efficient schedule is repetitive and unfair; a perfectly varied schedule is logistically expensive.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Interpretations &amp;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6" name="Google Shape;3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66875"/>
            <a:ext cx="5334000" cy="461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66875"/>
            <a:ext cx="5334000" cy="4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3"/>
          <p:cNvSpPr txBox="1"/>
          <p:nvPr/>
        </p:nvSpPr>
        <p:spPr>
          <a:xfrm>
            <a:off x="1043253" y="2057400"/>
            <a:ext cx="47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Transition Logic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 txBox="1"/>
          <p:nvPr/>
        </p:nvSpPr>
        <p:spPr>
          <a:xfrm>
            <a:off x="962025" y="2714625"/>
            <a:ext cx="4553100" cy="26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Linking each team’s location across consecutive slots was the hardest part of the model.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had to ensure the solver correctly </a:t>
            </a:r>
            <a:r>
              <a:rPr i="1"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tracks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where a team finishes Slot </a:t>
            </a:r>
            <a:r>
              <a:rPr i="1"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 compute the travel required for Slot </a:t>
            </a:r>
            <a:r>
              <a:rPr i="1"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s+1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Any mismatch in this linkage produced unrealistic routes or incorrect distances.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1" name="Google Shape;331;p13"/>
          <p:cNvSpPr txBox="1"/>
          <p:nvPr/>
        </p:nvSpPr>
        <p:spPr>
          <a:xfrm>
            <a:off x="6769857" y="2057400"/>
            <a:ext cx="47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Realism &amp; Feasibility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3"/>
          <p:cNvSpPr txBox="1"/>
          <p:nvPr/>
        </p:nvSpPr>
        <p:spPr>
          <a:xfrm>
            <a:off x="6677025" y="2714625"/>
            <a:ext cx="45531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Enforcing scheduling rules like one series per slot, no repeated opponents, and valid home/away assignments required careful constraint design.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Debugging home/away logic was essential to prevent impossible outcomes, such as a team appearing in two stadiums simultaneously.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Most modeling errors came from feasibility issues, not the objective function itself.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333" name="Google Shape;33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0859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08597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3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Biggest Challenges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1" name="Google Shape;3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0" y="1148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66875"/>
            <a:ext cx="3492549" cy="461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666875"/>
            <a:ext cx="3492549" cy="461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666875"/>
            <a:ext cx="3492549" cy="4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4"/>
          <p:cNvSpPr txBox="1"/>
          <p:nvPr/>
        </p:nvSpPr>
        <p:spPr>
          <a:xfrm>
            <a:off x="1357580" y="2705100"/>
            <a:ext cx="19202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Practical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4"/>
          <p:cNvSpPr txBox="1"/>
          <p:nvPr/>
        </p:nvSpPr>
        <p:spPr>
          <a:xfrm>
            <a:off x="694100" y="3362325"/>
            <a:ext cx="3182700" cy="2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D7E7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rgbClr val="CFD7E7"/>
                </a:solidFill>
                <a:latin typeface="Urbanist"/>
                <a:ea typeface="Urbanist"/>
                <a:cs typeface="Urbanist"/>
                <a:sym typeface="Urbanist"/>
              </a:rPr>
              <a:t>Our optimized schedule reduced travel by </a:t>
            </a:r>
            <a:r>
              <a:rPr b="1" lang="en-US" sz="1300">
                <a:solidFill>
                  <a:srgbClr val="CFD7E7"/>
                </a:solidFill>
                <a:latin typeface="Urbanist"/>
                <a:ea typeface="Urbanist"/>
                <a:cs typeface="Urbanist"/>
                <a:sym typeface="Urbanist"/>
              </a:rPr>
              <a:t>over 50%</a:t>
            </a:r>
            <a:r>
              <a:rPr lang="en-US" sz="1300">
                <a:solidFill>
                  <a:srgbClr val="CFD7E7"/>
                </a:solidFill>
                <a:latin typeface="Urbanist"/>
                <a:ea typeface="Urbanist"/>
                <a:cs typeface="Urbanist"/>
                <a:sym typeface="Urbanist"/>
              </a:rPr>
              <a:t>, showing how some inefficiency may exists in manual or tradition-based scheduling (not considering external factors)</a:t>
            </a:r>
            <a:endParaRPr sz="1300">
              <a:solidFill>
                <a:srgbClr val="CFD7E7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D7E7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rgbClr val="CFD7E7"/>
                </a:solidFill>
                <a:latin typeface="Urbanist"/>
                <a:ea typeface="Urbanist"/>
                <a:cs typeface="Urbanist"/>
                <a:sym typeface="Urbanist"/>
              </a:rPr>
              <a:t>Even simple optimization frameworks can significantly lower fatigue, injury risk, and operational cost.</a:t>
            </a:r>
            <a:endParaRPr sz="1300">
              <a:solidFill>
                <a:srgbClr val="CFD7E7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47" name="Google Shape;347;p14"/>
          <p:cNvSpPr txBox="1"/>
          <p:nvPr/>
        </p:nvSpPr>
        <p:spPr>
          <a:xfrm>
            <a:off x="5005863" y="2705100"/>
            <a:ext cx="21802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Real-World Logic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4"/>
          <p:cNvSpPr txBox="1"/>
          <p:nvPr/>
        </p:nvSpPr>
        <p:spPr>
          <a:xfrm>
            <a:off x="4499600" y="3362325"/>
            <a:ext cx="3186000" cy="26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Designing the model around series-level slots mirrors how MLB schedules in practice.</a:t>
            </a:r>
            <a:endParaRPr sz="13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Incorporating rules like minimum divisional matchups, balanced home/away sequences, and no back-to-back opponents reinforced the realism of our outputs.</a:t>
            </a:r>
            <a:endParaRPr sz="13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49" name="Google Shape;349;p14"/>
          <p:cNvSpPr txBox="1"/>
          <p:nvPr/>
        </p:nvSpPr>
        <p:spPr>
          <a:xfrm>
            <a:off x="9204215" y="2705100"/>
            <a:ext cx="13401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Scalability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4"/>
          <p:cNvSpPr txBox="1"/>
          <p:nvPr/>
        </p:nvSpPr>
        <p:spPr>
          <a:xfrm>
            <a:off x="8308400" y="3362325"/>
            <a:ext cx="3011700" cy="29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same model structure extends naturally from 5 to 15 to 30 teams; only computational complexity grows.</a:t>
            </a:r>
            <a:endParaRPr sz="13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framework generalizes to broader routing contexts such as airline crew planning, delivery logistics, or transportation scheduling.</a:t>
            </a:r>
            <a:endParaRPr sz="13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351" name="Google Shape;35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0002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8825" y="20002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4274" y="200025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We Learned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0" name="Google Shape;36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5"/>
          <p:cNvSpPr txBox="1"/>
          <p:nvPr/>
        </p:nvSpPr>
        <p:spPr>
          <a:xfrm>
            <a:off x="3610689" y="2318444"/>
            <a:ext cx="4970621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5"/>
          <p:cNvSpPr txBox="1"/>
          <p:nvPr/>
        </p:nvSpPr>
        <p:spPr>
          <a:xfrm>
            <a:off x="5353050" y="3747194"/>
            <a:ext cx="14859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